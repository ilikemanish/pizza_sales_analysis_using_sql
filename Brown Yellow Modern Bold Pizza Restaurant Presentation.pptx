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ton" charset="1" panose="000005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Gagalin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93938" y="4002479"/>
            <a:ext cx="11277162" cy="112771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58748" y="-4415216"/>
            <a:ext cx="13673516" cy="1367351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931365" y="-1995988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749769" y="7408383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49738" y="7999921"/>
            <a:ext cx="8309562" cy="1641138"/>
          </a:xfrm>
          <a:custGeom>
            <a:avLst/>
            <a:gdLst/>
            <a:ahLst/>
            <a:cxnLst/>
            <a:rect r="r" b="b" t="t" l="l"/>
            <a:pathLst>
              <a:path h="1641138" w="8309562">
                <a:moveTo>
                  <a:pt x="0" y="0"/>
                </a:moveTo>
                <a:lnTo>
                  <a:pt x="8309562" y="0"/>
                </a:lnTo>
                <a:lnTo>
                  <a:pt x="8309562" y="1641139"/>
                </a:lnTo>
                <a:lnTo>
                  <a:pt x="0" y="1641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43208">
            <a:off x="8851940" y="2808763"/>
            <a:ext cx="9257949" cy="5878797"/>
          </a:xfrm>
          <a:custGeom>
            <a:avLst/>
            <a:gdLst/>
            <a:ahLst/>
            <a:cxnLst/>
            <a:rect r="r" b="b" t="t" l="l"/>
            <a:pathLst>
              <a:path h="5878797" w="9257949">
                <a:moveTo>
                  <a:pt x="0" y="0"/>
                </a:moveTo>
                <a:lnTo>
                  <a:pt x="9257948" y="0"/>
                </a:lnTo>
                <a:lnTo>
                  <a:pt x="9257948" y="5878797"/>
                </a:lnTo>
                <a:lnTo>
                  <a:pt x="0" y="58787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32519" y="338697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9582" y="2964653"/>
            <a:ext cx="8617448" cy="404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27"/>
              </a:lnSpc>
            </a:pPr>
            <a:r>
              <a:rPr lang="en-US" sz="15026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PIZZA SALES ANALYSIS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1691087">
            <a:off x="7175853" y="-2153656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2"/>
                </a:lnTo>
                <a:lnTo>
                  <a:pt x="0" y="43073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275355" y="902740"/>
            <a:ext cx="6226825" cy="856217"/>
            <a:chOff x="0" y="0"/>
            <a:chExt cx="1639987" cy="2255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39987" cy="225506"/>
            </a:xfrm>
            <a:custGeom>
              <a:avLst/>
              <a:gdLst/>
              <a:ahLst/>
              <a:cxnLst/>
              <a:rect r="r" b="b" t="t" l="l"/>
              <a:pathLst>
                <a:path h="225506" w="1639987">
                  <a:moveTo>
                    <a:pt x="112753" y="0"/>
                  </a:moveTo>
                  <a:lnTo>
                    <a:pt x="1527234" y="0"/>
                  </a:lnTo>
                  <a:cubicBezTo>
                    <a:pt x="1589505" y="0"/>
                    <a:pt x="1639987" y="50481"/>
                    <a:pt x="1639987" y="112753"/>
                  </a:cubicBezTo>
                  <a:lnTo>
                    <a:pt x="1639987" y="112753"/>
                  </a:lnTo>
                  <a:cubicBezTo>
                    <a:pt x="1639987" y="175025"/>
                    <a:pt x="1589505" y="225506"/>
                    <a:pt x="1527234" y="225506"/>
                  </a:cubicBezTo>
                  <a:lnTo>
                    <a:pt x="112753" y="225506"/>
                  </a:lnTo>
                  <a:cubicBezTo>
                    <a:pt x="50481" y="225506"/>
                    <a:pt x="0" y="175025"/>
                    <a:pt x="0" y="112753"/>
                  </a:cubicBezTo>
                  <a:lnTo>
                    <a:pt x="0" y="112753"/>
                  </a:lnTo>
                  <a:cubicBezTo>
                    <a:pt x="0" y="50481"/>
                    <a:pt x="50481" y="0"/>
                    <a:pt x="112753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39987" cy="28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4735" y="8700909"/>
            <a:ext cx="176597" cy="17659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38360" y="937714"/>
            <a:ext cx="3413081" cy="49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MANISH KASHYAP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38360" y="1370894"/>
            <a:ext cx="5206588" cy="38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  <a:spcBef>
                <a:spcPct val="0"/>
              </a:spcBef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Aspiring Data Analyst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8882" y="8379809"/>
            <a:ext cx="7585118" cy="63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3005" spc="8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PROJECT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02710" y="1093316"/>
            <a:ext cx="2482832" cy="40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b="true" sz="2265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Documentation&gt;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85542" y="1122903"/>
            <a:ext cx="128984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Github&gt;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75383" y="1122903"/>
            <a:ext cx="1783917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Dashboard&gt;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7857" y="7175307"/>
            <a:ext cx="7920899" cy="70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9"/>
              </a:lnSpc>
            </a:pPr>
            <a:r>
              <a:rPr lang="en-US" sz="3505" spc="935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END-TO-END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24320" y="-4140486"/>
            <a:ext cx="13673516" cy="136735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59300" y="2638276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752131" y="4181326"/>
            <a:ext cx="12667454" cy="12078353"/>
            <a:chOff x="0" y="0"/>
            <a:chExt cx="812800" cy="7750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75001"/>
            </a:xfrm>
            <a:custGeom>
              <a:avLst/>
              <a:gdLst/>
              <a:ahLst/>
              <a:cxnLst/>
              <a:rect r="r" b="b" t="t" l="l"/>
              <a:pathLst>
                <a:path h="775001" w="812800">
                  <a:moveTo>
                    <a:pt x="406400" y="0"/>
                  </a:moveTo>
                  <a:cubicBezTo>
                    <a:pt x="181951" y="0"/>
                    <a:pt x="0" y="173490"/>
                    <a:pt x="0" y="387500"/>
                  </a:cubicBezTo>
                  <a:cubicBezTo>
                    <a:pt x="0" y="601511"/>
                    <a:pt x="181951" y="775001"/>
                    <a:pt x="406400" y="775001"/>
                  </a:cubicBezTo>
                  <a:cubicBezTo>
                    <a:pt x="630849" y="775001"/>
                    <a:pt x="812800" y="601511"/>
                    <a:pt x="812800" y="387500"/>
                  </a:cubicBezTo>
                  <a:cubicBezTo>
                    <a:pt x="812800" y="17349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5506"/>
              <a:ext cx="660400" cy="686838"/>
            </a:xfrm>
            <a:prstGeom prst="rect">
              <a:avLst/>
            </a:prstGeom>
          </p:spPr>
          <p:txBody>
            <a:bodyPr anchor="ctr" rtlCol="false" tIns="44922" lIns="44922" bIns="44922" rIns="4492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4537" y="2319355"/>
            <a:ext cx="8239900" cy="8229600"/>
          </a:xfrm>
          <a:custGeom>
            <a:avLst/>
            <a:gdLst/>
            <a:ahLst/>
            <a:cxnLst/>
            <a:rect r="r" b="b" t="t" l="l"/>
            <a:pathLst>
              <a:path h="8229600" w="8239900">
                <a:moveTo>
                  <a:pt x="0" y="0"/>
                </a:moveTo>
                <a:lnTo>
                  <a:pt x="8239900" y="0"/>
                </a:lnTo>
                <a:lnTo>
                  <a:pt x="82399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86147" y="2319355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45243" y="2319355"/>
            <a:ext cx="7277380" cy="6938945"/>
            <a:chOff x="0" y="0"/>
            <a:chExt cx="812800" cy="775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75001"/>
            </a:xfrm>
            <a:custGeom>
              <a:avLst/>
              <a:gdLst/>
              <a:ahLst/>
              <a:cxnLst/>
              <a:rect r="r" b="b" t="t" l="l"/>
              <a:pathLst>
                <a:path h="775001" w="812800">
                  <a:moveTo>
                    <a:pt x="406400" y="0"/>
                  </a:moveTo>
                  <a:cubicBezTo>
                    <a:pt x="181951" y="0"/>
                    <a:pt x="0" y="173490"/>
                    <a:pt x="0" y="387500"/>
                  </a:cubicBezTo>
                  <a:cubicBezTo>
                    <a:pt x="0" y="601511"/>
                    <a:pt x="181951" y="775001"/>
                    <a:pt x="406400" y="775001"/>
                  </a:cubicBezTo>
                  <a:cubicBezTo>
                    <a:pt x="630849" y="775001"/>
                    <a:pt x="812800" y="601511"/>
                    <a:pt x="812800" y="387500"/>
                  </a:cubicBezTo>
                  <a:cubicBezTo>
                    <a:pt x="812800" y="17349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5506"/>
              <a:ext cx="660400" cy="686838"/>
            </a:xfrm>
            <a:prstGeom prst="rect">
              <a:avLst/>
            </a:prstGeom>
          </p:spPr>
          <p:txBody>
            <a:bodyPr anchor="ctr" rtlCol="false" tIns="44922" lIns="44922" bIns="44922" rIns="4492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91121" y="2492818"/>
            <a:ext cx="7004674" cy="6572970"/>
          </a:xfrm>
          <a:custGeom>
            <a:avLst/>
            <a:gdLst/>
            <a:ahLst/>
            <a:cxnLst/>
            <a:rect r="r" b="b" t="t" l="l"/>
            <a:pathLst>
              <a:path h="6572970" w="7004674">
                <a:moveTo>
                  <a:pt x="0" y="0"/>
                </a:moveTo>
                <a:lnTo>
                  <a:pt x="7004673" y="0"/>
                </a:lnTo>
                <a:lnTo>
                  <a:pt x="7004673" y="6572969"/>
                </a:lnTo>
                <a:lnTo>
                  <a:pt x="0" y="6572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85" r="0" b="-128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3477770">
            <a:off x="5056692" y="7481852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38360" y="937714"/>
            <a:ext cx="3407036" cy="49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MANISH KASHYAP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38360" y="1370894"/>
            <a:ext cx="3407036" cy="38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  <a:spcBef>
                <a:spcPct val="0"/>
              </a:spcBef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Aspiring data Analyst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64574" y="6439924"/>
            <a:ext cx="7494726" cy="171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 end-to-end data analytics project focused on querying, cleaning, and extracting actionable business insights from a retail pizza sales dataset using Data Query Language (DQL).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4574" y="5195678"/>
            <a:ext cx="7010199" cy="96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305" spc="6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I’M MANISH KASHYAP ASPRING DATA ANALYST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64574" y="3316356"/>
            <a:ext cx="6165739" cy="160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09"/>
              </a:lnSpc>
              <a:spcBef>
                <a:spcPct val="0"/>
              </a:spcBef>
            </a:pPr>
            <a:r>
              <a:rPr lang="en-US" sz="12405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HELLO 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9400788">
            <a:off x="-2607949" y="1751382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2"/>
                </a:lnTo>
                <a:lnTo>
                  <a:pt x="0" y="430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94478" y="3513840"/>
            <a:ext cx="951410" cy="95141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7541" y="1915879"/>
            <a:ext cx="11537805" cy="160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9"/>
              </a:lnSpc>
              <a:spcBef>
                <a:spcPct val="0"/>
              </a:spcBef>
            </a:pPr>
            <a:r>
              <a:rPr lang="en-US" sz="12405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QUESTION I ANSWER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37822" y="6686126"/>
            <a:ext cx="791832" cy="5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9"/>
              </a:lnSpc>
              <a:spcBef>
                <a:spcPct val="0"/>
              </a:spcBef>
            </a:pPr>
            <a:r>
              <a:rPr lang="en-US" b="true" sz="3121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94478" y="3691271"/>
            <a:ext cx="3699045" cy="47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305" spc="6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BASIC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55901" y="6686126"/>
            <a:ext cx="791832" cy="5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9"/>
              </a:lnSpc>
              <a:spcBef>
                <a:spcPct val="0"/>
              </a:spcBef>
            </a:pPr>
            <a:r>
              <a:rPr lang="en-US" b="true" sz="3121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8786" y="4851773"/>
            <a:ext cx="13510428" cy="459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8"/>
              </a:lnSpc>
            </a:pPr>
            <a:r>
              <a:rPr lang="en-US" sz="36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1. Retrieve the total number of orders placed.</a:t>
            </a:r>
          </a:p>
          <a:p>
            <a:pPr algn="l">
              <a:lnSpc>
                <a:spcPts val="6128"/>
              </a:lnSpc>
            </a:pPr>
            <a:r>
              <a:rPr lang="en-US" sz="36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2.Calculate the total revenue generated from pizza sales.</a:t>
            </a:r>
          </a:p>
          <a:p>
            <a:pPr algn="l">
              <a:lnSpc>
                <a:spcPts val="6128"/>
              </a:lnSpc>
            </a:pPr>
            <a:r>
              <a:rPr lang="en-US" sz="36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3.Identify the highest-priced pizza.</a:t>
            </a:r>
          </a:p>
          <a:p>
            <a:pPr algn="l">
              <a:lnSpc>
                <a:spcPts val="6128"/>
              </a:lnSpc>
            </a:pPr>
            <a:r>
              <a:rPr lang="en-US" sz="36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4.Identify the most common pizza size ordered.</a:t>
            </a:r>
          </a:p>
          <a:p>
            <a:pPr algn="l">
              <a:lnSpc>
                <a:spcPts val="6128"/>
              </a:lnSpc>
            </a:pPr>
            <a:r>
              <a:rPr lang="en-US" sz="36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5.List the top 5 most ordered pizza types along with their quantities.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6820" y="8333508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$30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049080" y="1117796"/>
            <a:ext cx="951410" cy="9514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24785" y="1207024"/>
            <a:ext cx="3699045" cy="47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305" spc="6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6731" y="2612131"/>
            <a:ext cx="15235154" cy="604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1.Join the necessary tables to find the total quantity of each pizza category ordered.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2.Determine the distribution of orders by hour of the day.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.Join relevant tables to find the category-wise distribution of pizzas.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4.Group the orders by date and calculate the average number of pizzas ordered per day.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.Determine the top 3 most ordered pizza types based on revenue.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6.Calculate the percentage contribution of each pizza type to total revenue.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7.Analyze the cumulative revenue generated over time.</a:t>
            </a:r>
          </a:p>
          <a:p>
            <a:pPr algn="l">
              <a:lnSpc>
                <a:spcPts val="4831"/>
              </a:lnSpc>
            </a:pP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284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.Determine the top 3 most ordered pizza types based on revenue for each pizza category.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43745" y="7815725"/>
            <a:ext cx="5664969" cy="5261340"/>
          </a:xfrm>
          <a:custGeom>
            <a:avLst/>
            <a:gdLst/>
            <a:ahLst/>
            <a:cxnLst/>
            <a:rect r="r" b="b" t="t" l="l"/>
            <a:pathLst>
              <a:path h="5261340" w="5664969">
                <a:moveTo>
                  <a:pt x="0" y="0"/>
                </a:moveTo>
                <a:lnTo>
                  <a:pt x="5664969" y="0"/>
                </a:lnTo>
                <a:lnTo>
                  <a:pt x="5664969" y="5261340"/>
                </a:lnTo>
                <a:lnTo>
                  <a:pt x="0" y="5261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0788" y="3942699"/>
            <a:ext cx="9754680" cy="3517672"/>
          </a:xfrm>
          <a:custGeom>
            <a:avLst/>
            <a:gdLst/>
            <a:ahLst/>
            <a:cxnLst/>
            <a:rect r="r" b="b" t="t" l="l"/>
            <a:pathLst>
              <a:path h="3517672" w="9754680">
                <a:moveTo>
                  <a:pt x="0" y="0"/>
                </a:moveTo>
                <a:lnTo>
                  <a:pt x="9754680" y="0"/>
                </a:lnTo>
                <a:lnTo>
                  <a:pt x="9754680" y="3517673"/>
                </a:lnTo>
                <a:lnTo>
                  <a:pt x="0" y="3517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27627" y="4366904"/>
            <a:ext cx="4511054" cy="2669263"/>
          </a:xfrm>
          <a:custGeom>
            <a:avLst/>
            <a:gdLst/>
            <a:ahLst/>
            <a:cxnLst/>
            <a:rect r="r" b="b" t="t" l="l"/>
            <a:pathLst>
              <a:path h="2669263" w="4511054">
                <a:moveTo>
                  <a:pt x="0" y="0"/>
                </a:moveTo>
                <a:lnTo>
                  <a:pt x="4511054" y="0"/>
                </a:lnTo>
                <a:lnTo>
                  <a:pt x="4511054" y="2669263"/>
                </a:lnTo>
                <a:lnTo>
                  <a:pt x="0" y="26692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049" y="2526317"/>
            <a:ext cx="12178591" cy="63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0"/>
              </a:lnSpc>
              <a:spcBef>
                <a:spcPct val="0"/>
              </a:spcBef>
            </a:pPr>
            <a:r>
              <a:rPr lang="en-US" sz="4906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RETRIEVE THE TOTAL NUMBER OF ORDERS PLACED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7393171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149023">
            <a:off x="16018006" y="1863049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8" y="0"/>
                </a:lnTo>
                <a:lnTo>
                  <a:pt x="4539988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627064"/>
            <a:ext cx="10623126" cy="3981470"/>
          </a:xfrm>
          <a:custGeom>
            <a:avLst/>
            <a:gdLst/>
            <a:ahLst/>
            <a:cxnLst/>
            <a:rect r="r" b="b" t="t" l="l"/>
            <a:pathLst>
              <a:path h="3981470" w="10623126">
                <a:moveTo>
                  <a:pt x="0" y="0"/>
                </a:moveTo>
                <a:lnTo>
                  <a:pt x="10623126" y="0"/>
                </a:lnTo>
                <a:lnTo>
                  <a:pt x="10623126" y="3981470"/>
                </a:lnTo>
                <a:lnTo>
                  <a:pt x="0" y="3981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51749" y="5342922"/>
            <a:ext cx="4344369" cy="2265612"/>
          </a:xfrm>
          <a:custGeom>
            <a:avLst/>
            <a:gdLst/>
            <a:ahLst/>
            <a:cxnLst/>
            <a:rect r="r" b="b" t="t" l="l"/>
            <a:pathLst>
              <a:path h="2265612" w="4344369">
                <a:moveTo>
                  <a:pt x="0" y="0"/>
                </a:moveTo>
                <a:lnTo>
                  <a:pt x="4344369" y="0"/>
                </a:lnTo>
                <a:lnTo>
                  <a:pt x="4344369" y="2265612"/>
                </a:lnTo>
                <a:lnTo>
                  <a:pt x="0" y="22656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148395"/>
            <a:ext cx="14485919" cy="122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0"/>
              </a:lnSpc>
              <a:spcBef>
                <a:spcPct val="0"/>
              </a:spcBef>
            </a:pPr>
            <a:r>
              <a:rPr lang="en-US" sz="4906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CALCULATE THE TOTAL REVENUE GENERATED FROM PIZZA SALES </a:t>
            </a:r>
          </a:p>
          <a:p>
            <a:pPr algn="l" marL="0" indent="0" lvl="0">
              <a:lnSpc>
                <a:spcPts val="47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25383" y="3205077"/>
            <a:ext cx="10931437" cy="3876847"/>
          </a:xfrm>
          <a:custGeom>
            <a:avLst/>
            <a:gdLst/>
            <a:ahLst/>
            <a:cxnLst/>
            <a:rect r="r" b="b" t="t" l="l"/>
            <a:pathLst>
              <a:path h="3876847" w="10931437">
                <a:moveTo>
                  <a:pt x="0" y="0"/>
                </a:moveTo>
                <a:lnTo>
                  <a:pt x="10931437" y="0"/>
                </a:lnTo>
                <a:lnTo>
                  <a:pt x="10931437" y="3876846"/>
                </a:lnTo>
                <a:lnTo>
                  <a:pt x="0" y="38768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57092" y="7646650"/>
            <a:ext cx="6468018" cy="2259625"/>
          </a:xfrm>
          <a:custGeom>
            <a:avLst/>
            <a:gdLst/>
            <a:ahLst/>
            <a:cxnLst/>
            <a:rect r="r" b="b" t="t" l="l"/>
            <a:pathLst>
              <a:path h="2259625" w="6468018">
                <a:moveTo>
                  <a:pt x="0" y="0"/>
                </a:moveTo>
                <a:lnTo>
                  <a:pt x="6468018" y="0"/>
                </a:lnTo>
                <a:lnTo>
                  <a:pt x="6468018" y="2259624"/>
                </a:lnTo>
                <a:lnTo>
                  <a:pt x="0" y="2259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665" r="-116" b="-366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347148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$30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6820" y="7347148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$30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02081" y="1786209"/>
            <a:ext cx="14485919" cy="63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0"/>
              </a:lnSpc>
              <a:spcBef>
                <a:spcPct val="0"/>
              </a:spcBef>
            </a:pPr>
            <a:r>
              <a:rPr lang="en-US" sz="4906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IDENTIFY THE HIGHEST-PRICED PIZZA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79369" y="951569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4391" y="3001691"/>
            <a:ext cx="10931437" cy="4528284"/>
          </a:xfrm>
          <a:custGeom>
            <a:avLst/>
            <a:gdLst/>
            <a:ahLst/>
            <a:cxnLst/>
            <a:rect r="r" b="b" t="t" l="l"/>
            <a:pathLst>
              <a:path h="4528284" w="10931437">
                <a:moveTo>
                  <a:pt x="0" y="0"/>
                </a:moveTo>
                <a:lnTo>
                  <a:pt x="10931437" y="0"/>
                </a:lnTo>
                <a:lnTo>
                  <a:pt x="10931437" y="4528284"/>
                </a:lnTo>
                <a:lnTo>
                  <a:pt x="0" y="4528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56601" y="3360557"/>
            <a:ext cx="4578567" cy="4169418"/>
          </a:xfrm>
          <a:custGeom>
            <a:avLst/>
            <a:gdLst/>
            <a:ahLst/>
            <a:cxnLst/>
            <a:rect r="r" b="b" t="t" l="l"/>
            <a:pathLst>
              <a:path h="4169418" w="4578567">
                <a:moveTo>
                  <a:pt x="0" y="0"/>
                </a:moveTo>
                <a:lnTo>
                  <a:pt x="4578567" y="0"/>
                </a:lnTo>
                <a:lnTo>
                  <a:pt x="4578567" y="4169418"/>
                </a:lnTo>
                <a:lnTo>
                  <a:pt x="0" y="4169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4391" y="1786209"/>
            <a:ext cx="14485919" cy="63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0"/>
              </a:lnSpc>
              <a:spcBef>
                <a:spcPct val="0"/>
              </a:spcBef>
            </a:pPr>
            <a:r>
              <a:rPr lang="en-US" sz="4906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IDENTIFY THE MOST COMMON PIZZA SIZE ORDERED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7393171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149023">
            <a:off x="16018006" y="1863049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8" y="0"/>
                </a:lnTo>
                <a:lnTo>
                  <a:pt x="4539988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70983" y="9671496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3596" y="2918519"/>
            <a:ext cx="9937881" cy="4449962"/>
          </a:xfrm>
          <a:custGeom>
            <a:avLst/>
            <a:gdLst/>
            <a:ahLst/>
            <a:cxnLst/>
            <a:rect r="r" b="b" t="t" l="l"/>
            <a:pathLst>
              <a:path h="4449962" w="9937881">
                <a:moveTo>
                  <a:pt x="0" y="0"/>
                </a:moveTo>
                <a:lnTo>
                  <a:pt x="9937881" y="0"/>
                </a:lnTo>
                <a:lnTo>
                  <a:pt x="9937881" y="4449962"/>
                </a:lnTo>
                <a:lnTo>
                  <a:pt x="0" y="444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08327" y="5599767"/>
            <a:ext cx="5030354" cy="2983428"/>
          </a:xfrm>
          <a:custGeom>
            <a:avLst/>
            <a:gdLst/>
            <a:ahLst/>
            <a:cxnLst/>
            <a:rect r="r" b="b" t="t" l="l"/>
            <a:pathLst>
              <a:path h="2983428" w="5030354">
                <a:moveTo>
                  <a:pt x="0" y="0"/>
                </a:moveTo>
                <a:lnTo>
                  <a:pt x="5030354" y="0"/>
                </a:lnTo>
                <a:lnTo>
                  <a:pt x="5030354" y="2983428"/>
                </a:lnTo>
                <a:lnTo>
                  <a:pt x="0" y="2983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3596" y="1868138"/>
            <a:ext cx="15431730" cy="55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9"/>
              </a:lnSpc>
              <a:spcBef>
                <a:spcPct val="0"/>
              </a:spcBef>
            </a:pPr>
            <a:r>
              <a:rPr lang="en-US" sz="4363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LIST THE TOP 5 MOST ORDERED PIZZA TYPES ALONG WITH THEIR QUANTITIES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0788" y="2414454"/>
            <a:ext cx="10900130" cy="5458092"/>
          </a:xfrm>
          <a:custGeom>
            <a:avLst/>
            <a:gdLst/>
            <a:ahLst/>
            <a:cxnLst/>
            <a:rect r="r" b="b" t="t" l="l"/>
            <a:pathLst>
              <a:path h="5458092" w="10900130">
                <a:moveTo>
                  <a:pt x="0" y="0"/>
                </a:moveTo>
                <a:lnTo>
                  <a:pt x="10900130" y="0"/>
                </a:lnTo>
                <a:lnTo>
                  <a:pt x="10900130" y="5458092"/>
                </a:lnTo>
                <a:lnTo>
                  <a:pt x="0" y="54580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51975" y="2814930"/>
            <a:ext cx="4795025" cy="3680392"/>
          </a:xfrm>
          <a:custGeom>
            <a:avLst/>
            <a:gdLst/>
            <a:ahLst/>
            <a:cxnLst/>
            <a:rect r="r" b="b" t="t" l="l"/>
            <a:pathLst>
              <a:path h="3680392" w="4795025">
                <a:moveTo>
                  <a:pt x="0" y="0"/>
                </a:moveTo>
                <a:lnTo>
                  <a:pt x="4795025" y="0"/>
                </a:lnTo>
                <a:lnTo>
                  <a:pt x="4795025" y="3680392"/>
                </a:lnTo>
                <a:lnTo>
                  <a:pt x="0" y="3680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JOIN THE NECESSARY TABLES TO FIND THE TOTAL QUANTITY OF EACH PIZZA CATEGORY ORDERED.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9966" y="3163778"/>
            <a:ext cx="10550440" cy="2895489"/>
          </a:xfrm>
          <a:custGeom>
            <a:avLst/>
            <a:gdLst/>
            <a:ahLst/>
            <a:cxnLst/>
            <a:rect r="r" b="b" t="t" l="l"/>
            <a:pathLst>
              <a:path h="2895489" w="10550440">
                <a:moveTo>
                  <a:pt x="0" y="0"/>
                </a:moveTo>
                <a:lnTo>
                  <a:pt x="10550440" y="0"/>
                </a:lnTo>
                <a:lnTo>
                  <a:pt x="10550440" y="2895489"/>
                </a:lnTo>
                <a:lnTo>
                  <a:pt x="0" y="2895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01433" y="2701980"/>
            <a:ext cx="2556415" cy="4883039"/>
          </a:xfrm>
          <a:custGeom>
            <a:avLst/>
            <a:gdLst/>
            <a:ahLst/>
            <a:cxnLst/>
            <a:rect r="r" b="b" t="t" l="l"/>
            <a:pathLst>
              <a:path h="4883039" w="2556415">
                <a:moveTo>
                  <a:pt x="0" y="0"/>
                </a:moveTo>
                <a:lnTo>
                  <a:pt x="2556414" y="0"/>
                </a:lnTo>
                <a:lnTo>
                  <a:pt x="2556414" y="4883040"/>
                </a:lnTo>
                <a:lnTo>
                  <a:pt x="0" y="4883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DETERMINE THE DISTRIBUTION OF ORDERS BY HOUR OF THE DAY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9966" y="2418164"/>
            <a:ext cx="9591767" cy="5450672"/>
          </a:xfrm>
          <a:custGeom>
            <a:avLst/>
            <a:gdLst/>
            <a:ahLst/>
            <a:cxnLst/>
            <a:rect r="r" b="b" t="t" l="l"/>
            <a:pathLst>
              <a:path h="5450672" w="9591767">
                <a:moveTo>
                  <a:pt x="0" y="0"/>
                </a:moveTo>
                <a:lnTo>
                  <a:pt x="9591767" y="0"/>
                </a:lnTo>
                <a:lnTo>
                  <a:pt x="9591767" y="5450672"/>
                </a:lnTo>
                <a:lnTo>
                  <a:pt x="0" y="5450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12026" y="2971010"/>
            <a:ext cx="4735229" cy="3524311"/>
          </a:xfrm>
          <a:custGeom>
            <a:avLst/>
            <a:gdLst/>
            <a:ahLst/>
            <a:cxnLst/>
            <a:rect r="r" b="b" t="t" l="l"/>
            <a:pathLst>
              <a:path h="3524311" w="4735229">
                <a:moveTo>
                  <a:pt x="0" y="0"/>
                </a:moveTo>
                <a:lnTo>
                  <a:pt x="4735228" y="0"/>
                </a:lnTo>
                <a:lnTo>
                  <a:pt x="4735228" y="3524312"/>
                </a:lnTo>
                <a:lnTo>
                  <a:pt x="0" y="35243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JOIN RELEVANT TABLES TO FIND THECATEGORY-WISE DISTRIBUTION OF PIZZAS.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69487" y="7073981"/>
            <a:ext cx="6737411" cy="2402853"/>
          </a:xfrm>
          <a:custGeom>
            <a:avLst/>
            <a:gdLst/>
            <a:ahLst/>
            <a:cxnLst/>
            <a:rect r="r" b="b" t="t" l="l"/>
            <a:pathLst>
              <a:path h="2402853" w="6737411">
                <a:moveTo>
                  <a:pt x="0" y="0"/>
                </a:moveTo>
                <a:lnTo>
                  <a:pt x="6737411" y="0"/>
                </a:lnTo>
                <a:lnTo>
                  <a:pt x="6737411" y="2402852"/>
                </a:lnTo>
                <a:lnTo>
                  <a:pt x="0" y="2402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0788" y="2421542"/>
            <a:ext cx="11104294" cy="4252389"/>
          </a:xfrm>
          <a:custGeom>
            <a:avLst/>
            <a:gdLst/>
            <a:ahLst/>
            <a:cxnLst/>
            <a:rect r="r" b="b" t="t" l="l"/>
            <a:pathLst>
              <a:path h="4252389" w="11104294">
                <a:moveTo>
                  <a:pt x="0" y="0"/>
                </a:moveTo>
                <a:lnTo>
                  <a:pt x="11104294" y="0"/>
                </a:lnTo>
                <a:lnTo>
                  <a:pt x="11104294" y="4252389"/>
                </a:lnTo>
                <a:lnTo>
                  <a:pt x="0" y="42523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GROUP THE ORDERS BY DATE AND CALCULATE THE AVERAGE NUMBER OF PIZZAS ORDERED PER DAY.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9966" y="2421542"/>
            <a:ext cx="10375461" cy="5738640"/>
          </a:xfrm>
          <a:custGeom>
            <a:avLst/>
            <a:gdLst/>
            <a:ahLst/>
            <a:cxnLst/>
            <a:rect r="r" b="b" t="t" l="l"/>
            <a:pathLst>
              <a:path h="5738640" w="10375461">
                <a:moveTo>
                  <a:pt x="0" y="0"/>
                </a:moveTo>
                <a:lnTo>
                  <a:pt x="10375461" y="0"/>
                </a:lnTo>
                <a:lnTo>
                  <a:pt x="10375461" y="5738640"/>
                </a:lnTo>
                <a:lnTo>
                  <a:pt x="0" y="573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71839" y="2976444"/>
            <a:ext cx="6487022" cy="2995327"/>
          </a:xfrm>
          <a:custGeom>
            <a:avLst/>
            <a:gdLst/>
            <a:ahLst/>
            <a:cxnLst/>
            <a:rect r="r" b="b" t="t" l="l"/>
            <a:pathLst>
              <a:path h="2995327" w="6487022">
                <a:moveTo>
                  <a:pt x="0" y="0"/>
                </a:moveTo>
                <a:lnTo>
                  <a:pt x="6487023" y="0"/>
                </a:lnTo>
                <a:lnTo>
                  <a:pt x="6487023" y="2995326"/>
                </a:lnTo>
                <a:lnTo>
                  <a:pt x="0" y="2995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89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DETERMINE THE TOP 3 MOST ORDERED PIZZA TYPES BASED ON REVENUE.</a:t>
            </a:r>
          </a:p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8325" y="2326851"/>
            <a:ext cx="11803569" cy="5355323"/>
          </a:xfrm>
          <a:custGeom>
            <a:avLst/>
            <a:gdLst/>
            <a:ahLst/>
            <a:cxnLst/>
            <a:rect r="r" b="b" t="t" l="l"/>
            <a:pathLst>
              <a:path h="5355323" w="11803569">
                <a:moveTo>
                  <a:pt x="0" y="0"/>
                </a:moveTo>
                <a:lnTo>
                  <a:pt x="11803569" y="0"/>
                </a:lnTo>
                <a:lnTo>
                  <a:pt x="11803569" y="5355323"/>
                </a:lnTo>
                <a:lnTo>
                  <a:pt x="0" y="5355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89525" y="2878538"/>
            <a:ext cx="3849156" cy="3309555"/>
          </a:xfrm>
          <a:custGeom>
            <a:avLst/>
            <a:gdLst/>
            <a:ahLst/>
            <a:cxnLst/>
            <a:rect r="r" b="b" t="t" l="l"/>
            <a:pathLst>
              <a:path h="3309555" w="3849156">
                <a:moveTo>
                  <a:pt x="0" y="0"/>
                </a:moveTo>
                <a:lnTo>
                  <a:pt x="3849156" y="0"/>
                </a:lnTo>
                <a:lnTo>
                  <a:pt x="3849156" y="3309555"/>
                </a:lnTo>
                <a:lnTo>
                  <a:pt x="0" y="3309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CALCULATE THE PERCENTAGE CONTRIBUTION OF EACHPIZZA TYPE TO TOTAL REVENUE.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9966" y="2418164"/>
            <a:ext cx="9591767" cy="5450672"/>
          </a:xfrm>
          <a:custGeom>
            <a:avLst/>
            <a:gdLst/>
            <a:ahLst/>
            <a:cxnLst/>
            <a:rect r="r" b="b" t="t" l="l"/>
            <a:pathLst>
              <a:path h="5450672" w="9591767">
                <a:moveTo>
                  <a:pt x="0" y="0"/>
                </a:moveTo>
                <a:lnTo>
                  <a:pt x="9591767" y="0"/>
                </a:lnTo>
                <a:lnTo>
                  <a:pt x="9591767" y="5450672"/>
                </a:lnTo>
                <a:lnTo>
                  <a:pt x="0" y="5450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12026" y="2971010"/>
            <a:ext cx="4735229" cy="3524311"/>
          </a:xfrm>
          <a:custGeom>
            <a:avLst/>
            <a:gdLst/>
            <a:ahLst/>
            <a:cxnLst/>
            <a:rect r="r" b="b" t="t" l="l"/>
            <a:pathLst>
              <a:path h="3524311" w="4735229">
                <a:moveTo>
                  <a:pt x="0" y="0"/>
                </a:moveTo>
                <a:lnTo>
                  <a:pt x="4735228" y="0"/>
                </a:lnTo>
                <a:lnTo>
                  <a:pt x="4735228" y="3524312"/>
                </a:lnTo>
                <a:lnTo>
                  <a:pt x="0" y="35243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JOIN RELEVANT TABLES TO FIND THECATEGORY-WISE DISTRIBUTION OF PIZZAS.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9966" y="2258813"/>
            <a:ext cx="11013734" cy="5491399"/>
          </a:xfrm>
          <a:custGeom>
            <a:avLst/>
            <a:gdLst/>
            <a:ahLst/>
            <a:cxnLst/>
            <a:rect r="r" b="b" t="t" l="l"/>
            <a:pathLst>
              <a:path h="5491399" w="11013734">
                <a:moveTo>
                  <a:pt x="0" y="0"/>
                </a:moveTo>
                <a:lnTo>
                  <a:pt x="11013734" y="0"/>
                </a:lnTo>
                <a:lnTo>
                  <a:pt x="11013734" y="5491399"/>
                </a:lnTo>
                <a:lnTo>
                  <a:pt x="0" y="549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71882" y="2331249"/>
            <a:ext cx="3946179" cy="3854673"/>
          </a:xfrm>
          <a:custGeom>
            <a:avLst/>
            <a:gdLst/>
            <a:ahLst/>
            <a:cxnLst/>
            <a:rect r="r" b="b" t="t" l="l"/>
            <a:pathLst>
              <a:path h="3854673" w="3946179">
                <a:moveTo>
                  <a:pt x="0" y="0"/>
                </a:moveTo>
                <a:lnTo>
                  <a:pt x="3946179" y="0"/>
                </a:lnTo>
                <a:lnTo>
                  <a:pt x="3946179" y="3854673"/>
                </a:lnTo>
                <a:lnTo>
                  <a:pt x="0" y="3854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6498990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ANALYZE THE CUMULATIVE REVENUE GENERATED OVER TIME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79640" y="6495322"/>
            <a:ext cx="9558443" cy="95584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88054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02405">
            <a:off x="-1609206" y="81637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0788" y="2300810"/>
            <a:ext cx="9323060" cy="5685380"/>
          </a:xfrm>
          <a:custGeom>
            <a:avLst/>
            <a:gdLst/>
            <a:ahLst/>
            <a:cxnLst/>
            <a:rect r="r" b="b" t="t" l="l"/>
            <a:pathLst>
              <a:path h="5685380" w="9323060">
                <a:moveTo>
                  <a:pt x="0" y="0"/>
                </a:moveTo>
                <a:lnTo>
                  <a:pt x="9323060" y="0"/>
                </a:lnTo>
                <a:lnTo>
                  <a:pt x="9323060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14763" y="2421542"/>
            <a:ext cx="4903549" cy="4472596"/>
          </a:xfrm>
          <a:custGeom>
            <a:avLst/>
            <a:gdLst/>
            <a:ahLst/>
            <a:cxnLst/>
            <a:rect r="r" b="b" t="t" l="l"/>
            <a:pathLst>
              <a:path h="4472596" w="4903549">
                <a:moveTo>
                  <a:pt x="0" y="0"/>
                </a:moveTo>
                <a:lnTo>
                  <a:pt x="4903549" y="0"/>
                </a:lnTo>
                <a:lnTo>
                  <a:pt x="4903549" y="4472596"/>
                </a:lnTo>
                <a:lnTo>
                  <a:pt x="0" y="447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9966" y="1557845"/>
            <a:ext cx="17658962" cy="4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  <a:spcBef>
                <a:spcPct val="0"/>
              </a:spcBef>
            </a:pPr>
            <a:r>
              <a:rPr lang="en-US" sz="358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 DETERMINE THE TOP 3 MOST ORDERED PIZZA TYPES BASED ON REVENUE FOR EACH PIZZA CATEGORY.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58748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18061" y="92583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220652" y="5143500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63324" y="439974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691087">
            <a:off x="7175853" y="-2153656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2"/>
                </a:lnTo>
                <a:lnTo>
                  <a:pt x="0" y="4307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26372" y="7714777"/>
            <a:ext cx="176597" cy="1765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84064" y="3678720"/>
            <a:ext cx="15506772" cy="374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4"/>
              </a:lnSpc>
            </a:pPr>
            <a:r>
              <a:rPr lang="en-US" sz="29150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18818" y="7521870"/>
            <a:ext cx="7585118" cy="46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305" spc="615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GITHUB.COM\ILIKEMANISH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4064" y="7325871"/>
            <a:ext cx="6821859" cy="118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6"/>
              </a:lnSpc>
            </a:pPr>
            <a:r>
              <a:rPr lang="en-US" sz="91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FOR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DAHU6oNjqrI</dc:identifier>
  <dcterms:modified xsi:type="dcterms:W3CDTF">2011-08-01T06:04:30Z</dcterms:modified>
  <cp:revision>1</cp:revision>
  <dc:title>Brown Yellow Modern Bold Pizza Restaurant Presentation</dc:title>
</cp:coreProperties>
</file>